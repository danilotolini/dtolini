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b6239fa-56ba-fb6f-2df4-978ece996d2d}">
          <p14:sldIdLst>
            <p14:sldId id="256"/>
          </p14:sldIdLst>
        </p14:section>
        <p14:section name="Entregas" id="{26c151de-7e33-a269-e388-ee42ef1190f9}">
          <p14:sldIdLst>
            <p14:sldId id="257"/>
            <p14:sldId id="258"/>
            <p14:sldId id="259"/>
          </p14:sldIdLst>
        </p14:section>
        <p14:section name="Run" id="{189a6ebe-b7cb-0fce-fb62-417c3808c929}">
          <p14:sldIdLst>
            <p14:sldId id="260"/>
          </p14:sldIdLst>
        </p14:section>
        <p14:section name="Próximos passos" id="{67194ab2-6c65-589c-5960-0177226cb297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passar pelas entregas em cinco blocos: o status do link de ativação da Deezer, a correção da calculadora, os números do run, o que está em andamento na Globoplay e o próximo passo, que são as DLQs. Os três primeiros já estão feitos; os dois últimos são o que vem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entrega: a oferta do cliente agora mostra se ele ativou ou não o benefício Deezer. LINKADO quando ativou, NÃO LINKADO quando ainda não ativou, e essa informação é atualizada todo dia. O status ESGOTADO saiu da tela, mas a regra dele continua rodando por trás: depois de um certo número de requisições ou de um período, paramos de enviar a ativação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entrega: um bug bem explosivo. Ao cadastrar um SKU novo, qualquer detalhe errado, uma vírgula ou um espaço invisível no fim do texto, já derrubava o ambiente inteiro de homologação. Teve um caso em que caiu produção, mesmo com o erro só em HOM e sem deploy em prod. E havia um segundo gatilho: se o SKU estivesse só na calculadora ou só no CMS, o serviço também caía.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mudou: a calculadora não explode mais com esses erros e passou a ser a fonte da verdade. O CMS só exibe o benefício na tela. Se o SKU está só na calculadora, ele é cadastrado; se está só no CMS, a calculadora não reconhece. Nenhum desses cenários derruba mais o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run, outubro foi nosso melhor mês em incidentes. Em setembro recebemos 14 incidentes, e nenhum passou de 100% do MTTR. Em outubro, até agora, recebemos um único incidente de negócio, e ele foi cancelado: era uma confusão sobre a data de cancelamento do cliente. Na prática,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andamento: Globoplay, que é o benefício que mais gera incidentes por link de ativação. Do nosso lado, os métodos estão quase no fim. O que segura a evolução hoje é o endpoint da Globo. Quando ele destravar, teremos mais soluções exatamente onde nascem mais incidentes.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 passo: resolver nossas DLQs. Hoje, uma falha que fica parada na DLQ pode acabar chegando como cliente e virar incidente. A ideia é cortar antes: atacar a causa raiz na fila, antes que ela apareça em forma de cliente, e fazer os próximos meses como foi outubro.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28016" cy="12801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77240" y="429768"/>
            <a:ext cx="68580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280160"/>
            <a:ext cx="1109441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4000"/>
              </a:lnSpc>
              <a:buNone/>
              <a:defRPr lang="en-US" sz="15000" b="1" spc="-4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84000"/>
              </a:lnSpc>
              <a:buNone/>
            </a:pPr>
            <a:endParaRPr lang="en-US" sz="15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DE ENTREGAS / OUTUBRO 2026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DE ENTREGAS / OUTUBRO 2026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b="1" spc="-5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ANJ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28016" cy="128016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DE ENTREGAS / OUTUBRO 2026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77240" y="4297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OUTUBRO 2026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28016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0" b="1" spc="-400" kern="0" dirty="0">
                <a:solidFill>
                  <a:schemeClr val="bg1"/>
                </a:solidFill>
              </a:rPr>
              <a:t>Demo de</a:t>
            </a:r>
            <a:endParaRPr lang="en-US" sz="15000" dirty="0"/>
          </a:p>
          <a:p>
            <a:pPr algn="l" indent="0" marL="0">
              <a:lnSpc>
                <a:spcPct val="84000"/>
              </a:lnSpc>
              <a:buNone/>
            </a:pPr>
            <a:r>
              <a:rPr lang="en-US" sz="15000" b="1" spc="-400" kern="0" dirty="0">
                <a:solidFill>
                  <a:schemeClr val="bg1"/>
                </a:solidFill>
              </a:rPr>
              <a:t>entregas</a:t>
            </a:r>
            <a:endParaRPr lang="en-US" sz="15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 que foi entregue, como está o run e o que vem agora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DEEZER · STATUS DO LINK DE ATIVAÇÃO</a:t>
            </a:r>
            <a:endParaRPr lang="en-US" sz="12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tx1"/>
                </a:solidFill>
              </a:rPr>
              <a:t>A oferta agora mostra se o cliente</a:t>
            </a:r>
            <a:br/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tx1"/>
                </a:solidFill>
              </a:rPr>
              <a:t>ativou a Deezer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408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NA OFERTA · ATUALIZADO TODO DIA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234086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SIGNIFICA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Status LINKADO"/>
          <p:cNvSpPr txBox="1"/>
          <p:nvPr/>
        </p:nvSpPr>
        <p:spPr>
          <a:xfrm>
            <a:off x="548640" y="27889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chemeClr val="accent1"/>
                </a:solidFill>
              </a:rPr>
              <a:t>LINKADO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770632"/>
            <a:ext cx="3959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APARECE NA OFERTA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O cliente ativou o benefício Deezer.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Status NÃO LINKADO"/>
          <p:cNvSpPr txBox="1"/>
          <p:nvPr/>
        </p:nvSpPr>
        <p:spPr>
          <a:xfrm>
            <a:off x="548640" y="39319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chemeClr val="tx1"/>
                </a:solidFill>
              </a:rPr>
              <a:t>NÃO LINKADO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913632"/>
            <a:ext cx="3959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APARECE NA OFERTA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O cliente ainda não ativou o benefício.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Status ESGOTADO"/>
          <p:cNvSpPr txBox="1"/>
          <p:nvPr/>
        </p:nvSpPr>
        <p:spPr>
          <a:xfrm>
            <a:off x="548640" y="50749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chemeClr val="accent4"/>
                </a:solidFill>
              </a:rPr>
              <a:t>ESGOTADO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5056632"/>
            <a:ext cx="3959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SAIU DA TELA · REGRA MANTIDA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Após um número de requisições ou um período, paramos de enviar a ativação ao cliente.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Risco ESGOTADO"/>
          <p:cNvSpPr/>
          <p:nvPr/>
        </p:nvSpPr>
        <p:spPr>
          <a:xfrm>
            <a:off x="475488" y="5513832"/>
            <a:ext cx="4315968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CALCULADORA · ANTES</a:t>
            </a:r>
            <a:endParaRPr lang="en-US" sz="12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bg1"/>
                </a:solidFill>
              </a:rPr>
              <a:t>Uma vírgula ou um espaço invisível</a:t>
            </a:r>
            <a:br/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bg1"/>
                </a:solidFill>
              </a:rPr>
              <a:t>derrubava HOM inteiro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CADASTRO DE SKU · EXEMPLO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Caractere 0"/>
          <p:cNvSpPr/>
          <p:nvPr/>
        </p:nvSpPr>
        <p:spPr>
          <a:xfrm>
            <a:off x="548640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Caractere 1"/>
          <p:cNvSpPr/>
          <p:nvPr/>
        </p:nvSpPr>
        <p:spPr>
          <a:xfrm>
            <a:off x="1152144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Caractere 2"/>
          <p:cNvSpPr/>
          <p:nvPr/>
        </p:nvSpPr>
        <p:spPr>
          <a:xfrm>
            <a:off x="1755648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359152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Caractere 3"/>
          <p:cNvSpPr/>
          <p:nvPr/>
        </p:nvSpPr>
        <p:spPr>
          <a:xfrm>
            <a:off x="2359152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Caractere 4"/>
          <p:cNvSpPr/>
          <p:nvPr/>
        </p:nvSpPr>
        <p:spPr>
          <a:xfrm>
            <a:off x="2962656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Caractere 5"/>
          <p:cNvSpPr/>
          <p:nvPr/>
        </p:nvSpPr>
        <p:spPr>
          <a:xfrm>
            <a:off x="3566160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169664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Caractere 6"/>
          <p:cNvSpPr/>
          <p:nvPr/>
        </p:nvSpPr>
        <p:spPr>
          <a:xfrm>
            <a:off x="4169664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Caractere 7"/>
          <p:cNvSpPr/>
          <p:nvPr/>
        </p:nvSpPr>
        <p:spPr>
          <a:xfrm>
            <a:off x="4773168" y="2880360"/>
            <a:ext cx="603504" cy="86868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26334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Espaço invisível"/>
          <p:cNvSpPr/>
          <p:nvPr/>
        </p:nvSpPr>
        <p:spPr>
          <a:xfrm>
            <a:off x="5376672" y="2880360"/>
            <a:ext cx="60350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5586984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espaço no fim do texto</a:t>
            </a:r>
            <a:endParaRPr lang="en-US" sz="1200" dirty="0"/>
          </a:p>
        </p:txBody>
      </p:sp>
      <p:sp>
        <p:nvSpPr>
          <p:cNvPr id="24" name="Consequência"/>
          <p:cNvSpPr txBox="1"/>
          <p:nvPr/>
        </p:nvSpPr>
        <p:spPr>
          <a:xfrm>
            <a:off x="6446520" y="2834640"/>
            <a:ext cx="5193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 calculadora explode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3400" b="1" dirty="0">
                <a:solidFill>
                  <a:schemeClr val="accent1"/>
                </a:solidFill>
              </a:rPr>
              <a:t>→ HOM fora do ar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26280"/>
            <a:ext cx="34542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chemeClr val="accent1"/>
                </a:solidFill>
              </a:rPr>
              <a:t>HOM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193792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 ambiente inteiro caía a cada SKU cadastrado com erro.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368698" y="4526280"/>
            <a:ext cx="34542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chemeClr val="accent1"/>
                </a:solidFill>
              </a:rPr>
              <a:t>PROD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4368698" y="5193792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Já caiu uma vez, com o erro só em HOM e sem deploy em produção.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188757" y="4526280"/>
            <a:ext cx="34542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chemeClr val="accent1"/>
                </a:solidFill>
              </a:rPr>
              <a:t>CMS × CALC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8188757" y="5193792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SKU só na calculadora ou só no CMS também derrubava o serviço.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CALCULADORA · AGORA</a:t>
            </a:r>
            <a:endParaRPr lang="en-US" sz="12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tx1"/>
                </a:solidFill>
              </a:rPr>
              <a:t>A calculadora virou a fonte da verdade.</a:t>
            </a:r>
            <a:br/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tx1"/>
                </a:solidFill>
              </a:rPr>
              <a:t>O CMS só exibe</a:t>
            </a:r>
            <a:endParaRPr lang="en-US" sz="4000" dirty="0"/>
          </a:p>
        </p:txBody>
      </p:sp>
      <p:sp>
        <p:nvSpPr>
          <p:cNvPr id="4" name="Bloco calculadora"/>
          <p:cNvSpPr/>
          <p:nvPr/>
        </p:nvSpPr>
        <p:spPr>
          <a:xfrm>
            <a:off x="548640" y="2514600"/>
            <a:ext cx="3566160" cy="12801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FONTE DA VERDADE</a:t>
            </a:r>
            <a:endParaRPr lang="en-US" sz="1100" dirty="0"/>
          </a:p>
          <a:p>
            <a:pPr indent="0" marL="0">
              <a:buNone/>
            </a:pPr>
            <a:r>
              <a:rPr lang="en-US" sz="3000" b="1" spc="-50" kern="0" dirty="0">
                <a:solidFill>
                  <a:schemeClr val="bg1"/>
                </a:solidFill>
              </a:rPr>
              <a:t>Calculadora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3813048"/>
            <a:ext cx="0" cy="60350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109728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o que vale</a:t>
            </a:r>
            <a:endParaRPr lang="en-US" sz="1100" dirty="0"/>
          </a:p>
        </p:txBody>
      </p:sp>
      <p:sp>
        <p:nvSpPr>
          <p:cNvPr id="7" name="Bloco CMS"/>
          <p:cNvSpPr/>
          <p:nvPr/>
        </p:nvSpPr>
        <p:spPr>
          <a:xfrm>
            <a:off x="548640" y="4434840"/>
            <a:ext cx="3566160" cy="128016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 lIns="177800" tIns="0" rIns="17780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 EXIBE NA TELA</a:t>
            </a:r>
            <a:endParaRPr lang="en-US" sz="1100" dirty="0"/>
          </a:p>
          <a:p>
            <a:pPr indent="0" marL="0">
              <a:buNone/>
            </a:pPr>
            <a:r>
              <a:rPr lang="en-US" sz="3000" b="1" spc="-50" kern="0" dirty="0">
                <a:solidFill>
                  <a:schemeClr val="tx1"/>
                </a:solidFill>
              </a:rPr>
              <a:t>CMS</a:t>
            </a:r>
            <a:endParaRPr lang="en-US" sz="1100" dirty="0"/>
          </a:p>
        </p:txBody>
      </p:sp>
      <p:graphicFrame>
        <p:nvGraphicFramePr>
          <p:cNvPr id="5" name="Antes e agor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514600"/>
          <a:ext cx="707105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325880"/>
                <a:gridCol w="295625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120" kern="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CENÁRIO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120" kern="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120" kern="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AGORA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Vírgula ou espaço invisível no SKU</a:t>
                      </a:r>
                      <a:endParaRPr lang="en-US" sz="1600" dirty="0"/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spc="200" kern="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CAI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calculadora trata o erro e segue de pé</a:t>
                      </a:r>
                      <a:endParaRPr lang="en-US" sz="1600" dirty="0"/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SKU só na calculadora</a:t>
                      </a:r>
                      <a:endParaRPr lang="en-US" sz="1600" dirty="0"/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spc="200" kern="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CAI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 SKU é cadastrado</a:t>
                      </a:r>
                      <a:endParaRPr lang="en-US" sz="1600" dirty="0"/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SKU só no CMS</a:t>
                      </a:r>
                      <a:endParaRPr lang="en-US" sz="1600" dirty="0"/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spc="200" kern="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CAI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Não é reconhecido pela calculadora</a:t>
                      </a:r>
                      <a:endParaRPr lang="en-US" sz="1600" dirty="0"/>
                    </a:p>
                  </a:txBody>
                  <a:tcPr marL="146304" marR="14630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587044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18888" y="573328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Nenhum dos três cenários derruba mais o ambiente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RUN · MELHOR MÊS EM INCIDENTES</a:t>
            </a:r>
            <a:endParaRPr lang="en-US" sz="12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tx1"/>
                </a:solidFill>
              </a:rPr>
              <a:t>Outubro: 1 incidente. E ele nem era incidente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SETEMBRO</a:t>
            </a:r>
            <a:endParaRPr lang="en-US" sz="1200" dirty="0"/>
          </a:p>
        </p:txBody>
      </p:sp>
      <p:sp>
        <p:nvSpPr>
          <p:cNvPr id="5" name="Setembro 14"/>
          <p:cNvSpPr txBox="1"/>
          <p:nvPr/>
        </p:nvSpPr>
        <p:spPr>
          <a:xfrm>
            <a:off x="384048" y="2606040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0000"/>
              </a:lnSpc>
              <a:buNone/>
            </a:pPr>
            <a:r>
              <a:rPr lang="en-US" sz="20000" b="1" spc="-400" kern="0" dirty="0">
                <a:solidFill>
                  <a:schemeClr val="bg1"/>
                </a:solidFill>
              </a:rPr>
              <a:t>14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Shape 7"/>
          <p:cNvSpPr/>
          <p:nvPr/>
        </p:nvSpPr>
        <p:spPr>
          <a:xfrm>
            <a:off x="1344168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Shape 8"/>
          <p:cNvSpPr/>
          <p:nvPr/>
        </p:nvSpPr>
        <p:spPr>
          <a:xfrm>
            <a:off x="1609344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Shape 10"/>
          <p:cNvSpPr/>
          <p:nvPr/>
        </p:nvSpPr>
        <p:spPr>
          <a:xfrm>
            <a:off x="2139696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3" name="Shape 11"/>
          <p:cNvSpPr/>
          <p:nvPr/>
        </p:nvSpPr>
        <p:spPr>
          <a:xfrm>
            <a:off x="2404872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Shape 12"/>
          <p:cNvSpPr/>
          <p:nvPr/>
        </p:nvSpPr>
        <p:spPr>
          <a:xfrm>
            <a:off x="2670048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5224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Shape 15"/>
          <p:cNvSpPr/>
          <p:nvPr/>
        </p:nvSpPr>
        <p:spPr>
          <a:xfrm>
            <a:off x="3465576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8" name="Shape 16"/>
          <p:cNvSpPr/>
          <p:nvPr/>
        </p:nvSpPr>
        <p:spPr>
          <a:xfrm>
            <a:off x="3730752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9" name="Shape 17"/>
          <p:cNvSpPr/>
          <p:nvPr/>
        </p:nvSpPr>
        <p:spPr>
          <a:xfrm>
            <a:off x="3995928" y="4846320"/>
            <a:ext cx="182880" cy="1828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incidentes recebidos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nenhum com MTTR acima de 100%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99048" y="2423160"/>
            <a:ext cx="0" cy="361188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OUTUBRO · ATÉ 24/10</a:t>
            </a:r>
            <a:endParaRPr lang="en-US" sz="1200" dirty="0"/>
          </a:p>
        </p:txBody>
      </p:sp>
      <p:sp>
        <p:nvSpPr>
          <p:cNvPr id="23" name="Outubro 1"/>
          <p:cNvSpPr txBox="1"/>
          <p:nvPr/>
        </p:nvSpPr>
        <p:spPr>
          <a:xfrm>
            <a:off x="6236208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0000"/>
              </a:lnSpc>
              <a:buNone/>
            </a:pPr>
            <a:r>
              <a:rPr lang="en-US" sz="20000" b="1" spc="-400" kern="0" dirty="0">
                <a:solidFill>
                  <a:schemeClr val="tx1"/>
                </a:solidFill>
              </a:rPr>
              <a:t>1</a:t>
            </a:r>
            <a:endParaRPr lang="en-US" sz="20000" dirty="0"/>
          </a:p>
        </p:txBody>
      </p:sp>
      <p:sp>
        <p:nvSpPr>
          <p:cNvPr id="24" name="Carimbo cancelado"/>
          <p:cNvSpPr txBox="1"/>
          <p:nvPr/>
        </p:nvSpPr>
        <p:spPr>
          <a:xfrm rot="21120000">
            <a:off x="7635240" y="3246120"/>
            <a:ext cx="2834640" cy="71323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CANCELADO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400800" y="4846320"/>
            <a:ext cx="182880" cy="182880"/>
          </a:xfrm>
          <a:prstGeom prst="rect">
            <a:avLst/>
          </a:prstGeom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193792"/>
            <a:ext cx="5239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incidente de negócio, cancelado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Era uma confusão sobre a data de cancelamento do cliente.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GLOBOPLAY · EM ANDAMENTO</a:t>
            </a:r>
            <a:endParaRPr lang="en-US" sz="12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tx1"/>
                </a:solidFill>
              </a:rPr>
              <a:t>Globoplay: o benefício que mais gera incidentes por link de ativação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NOSSO LADO</a:t>
            </a:r>
            <a:endParaRPr lang="en-US" sz="1200" dirty="0"/>
          </a:p>
        </p:txBody>
      </p:sp>
      <p:sp>
        <p:nvSpPr>
          <p:cNvPr id="5" name="Métodos 1"/>
          <p:cNvSpPr/>
          <p:nvPr/>
        </p:nvSpPr>
        <p:spPr>
          <a:xfrm>
            <a:off x="2606040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étodos 2"/>
          <p:cNvSpPr/>
          <p:nvPr/>
        </p:nvSpPr>
        <p:spPr>
          <a:xfrm>
            <a:off x="3227832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Métodos 3"/>
          <p:cNvSpPr/>
          <p:nvPr/>
        </p:nvSpPr>
        <p:spPr>
          <a:xfrm>
            <a:off x="3849624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Métodos 4"/>
          <p:cNvSpPr/>
          <p:nvPr/>
        </p:nvSpPr>
        <p:spPr>
          <a:xfrm>
            <a:off x="4471416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Métodos 5"/>
          <p:cNvSpPr/>
          <p:nvPr/>
        </p:nvSpPr>
        <p:spPr>
          <a:xfrm>
            <a:off x="5093208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Métodos 6"/>
          <p:cNvSpPr/>
          <p:nvPr/>
        </p:nvSpPr>
        <p:spPr>
          <a:xfrm>
            <a:off x="5715000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Métodos 7"/>
          <p:cNvSpPr/>
          <p:nvPr/>
        </p:nvSpPr>
        <p:spPr>
          <a:xfrm>
            <a:off x="6336792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Métodos 8"/>
          <p:cNvSpPr/>
          <p:nvPr/>
        </p:nvSpPr>
        <p:spPr>
          <a:xfrm>
            <a:off x="6958584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Métodos 9"/>
          <p:cNvSpPr/>
          <p:nvPr/>
        </p:nvSpPr>
        <p:spPr>
          <a:xfrm>
            <a:off x="7580376" y="269748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Métodos 10"/>
          <p:cNvSpPr/>
          <p:nvPr/>
        </p:nvSpPr>
        <p:spPr>
          <a:xfrm>
            <a:off x="8202168" y="2697480"/>
            <a:ext cx="548640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260604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Métodos quase no fim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LADO GLOBO</a:t>
            </a:r>
            <a:endParaRPr lang="en-US" sz="1200" dirty="0"/>
          </a:p>
        </p:txBody>
      </p:sp>
      <p:sp>
        <p:nvSpPr>
          <p:cNvPr id="17" name="Endpoint Globo"/>
          <p:cNvSpPr txBox="1"/>
          <p:nvPr/>
        </p:nvSpPr>
        <p:spPr>
          <a:xfrm>
            <a:off x="2606040" y="3703320"/>
            <a:ext cx="6144768" cy="502920"/>
          </a:xfrm>
          <a:prstGeom prst="rect">
            <a:avLst/>
          </a:prstGeom>
          <a:ln w="15875">
            <a:solidFill>
              <a:schemeClr val="accent4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aguardando evolução do endpoint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361188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Endpoint da Globo ainda não evoluiu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00176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919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 O ENDPOINT DESTRAVAR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03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Mais soluções exatamente onde nascem mais incidentes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77240" y="3840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PRÓXIMO PASSO · DLQs</a:t>
            </a:r>
            <a:endParaRPr lang="en-US" sz="12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86868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bg1"/>
                </a:solidFill>
              </a:rPr>
              <a:t>Zerar as DLQs: resolver a causa raiz</a:t>
            </a:r>
            <a:br/>
            <a:pPr algn="l" indent="0" marL="0">
              <a:lnSpc>
                <a:spcPct val="95000"/>
              </a:lnSpc>
              <a:buNone/>
            </a:pPr>
            <a:r>
              <a:rPr lang="en-US" sz="4000" b="1" spc="-50" kern="0" dirty="0">
                <a:solidFill>
                  <a:schemeClr val="bg1"/>
                </a:solidFill>
              </a:rPr>
              <a:t>antes que ela vire cliente</a:t>
            </a:r>
            <a:endParaRPr lang="en-US" sz="4000" dirty="0"/>
          </a:p>
        </p:txBody>
      </p:sp>
      <p:sp>
        <p:nvSpPr>
          <p:cNvPr id="4" name="Etapa FALHA"/>
          <p:cNvSpPr/>
          <p:nvPr/>
        </p:nvSpPr>
        <p:spPr>
          <a:xfrm>
            <a:off x="548640" y="2788920"/>
            <a:ext cx="2331720" cy="1234440"/>
          </a:xfrm>
          <a:prstGeom prst="rect">
            <a:avLst/>
          </a:prstGeom>
          <a:ln w="12700">
            <a:solidFill>
              <a:schemeClr val="accent4"/>
            </a:solidFill>
            <a:prstDash val="solid"/>
          </a:ln>
        </p:spPr>
        <p:txBody>
          <a:bodyPr wrap="square" lIns="152400" tIns="0" rIns="15240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FALHA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bg1"/>
                </a:solidFill>
              </a:rPr>
              <a:t>Erro no processamento</a:t>
            </a:r>
            <a:endParaRPr lang="en-US" sz="1100" dirty="0"/>
          </a:p>
        </p:txBody>
      </p:sp>
      <p:sp>
        <p:nvSpPr>
          <p:cNvPr id="5" name="Etapa DLQ"/>
          <p:cNvSpPr/>
          <p:nvPr/>
        </p:nvSpPr>
        <p:spPr>
          <a:xfrm>
            <a:off x="3337560" y="2788920"/>
            <a:ext cx="2331720" cy="12344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52400" tIns="0" rIns="15240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DLQ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tx1"/>
                </a:solidFill>
              </a:rPr>
              <a:t>Mensagem parada na fila</a:t>
            </a:r>
            <a:endParaRPr lang="en-US" sz="1100" dirty="0"/>
          </a:p>
        </p:txBody>
      </p:sp>
      <p:sp>
        <p:nvSpPr>
          <p:cNvPr id="6" name="Etapa CLIENTE"/>
          <p:cNvSpPr/>
          <p:nvPr/>
        </p:nvSpPr>
        <p:spPr>
          <a:xfrm>
            <a:off x="6492240" y="2788920"/>
            <a:ext cx="2331720" cy="1234440"/>
          </a:xfrm>
          <a:prstGeom prst="rect">
            <a:avLst/>
          </a:prstGeom>
          <a:ln w="12700">
            <a:solidFill>
              <a:schemeClr val="accent6"/>
            </a:solidFill>
            <a:prstDash val="dash"/>
          </a:ln>
        </p:spPr>
        <p:txBody>
          <a:bodyPr wrap="square" lIns="152400" tIns="0" rIns="15240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4"/>
                </a:solidFill>
              </a:rPr>
              <a:t>Percebe o problema</a:t>
            </a:r>
            <a:endParaRPr lang="en-US" sz="1100" dirty="0"/>
          </a:p>
        </p:txBody>
      </p:sp>
      <p:sp>
        <p:nvSpPr>
          <p:cNvPr id="7" name="Etapa INCIDENTE"/>
          <p:cNvSpPr/>
          <p:nvPr/>
        </p:nvSpPr>
        <p:spPr>
          <a:xfrm>
            <a:off x="9308592" y="2788920"/>
            <a:ext cx="2331720" cy="1234440"/>
          </a:xfrm>
          <a:prstGeom prst="rect">
            <a:avLst/>
          </a:prstGeom>
          <a:ln w="12700">
            <a:solidFill>
              <a:schemeClr val="accent6"/>
            </a:solidFill>
            <a:prstDash val="dash"/>
          </a:ln>
        </p:spPr>
        <p:txBody>
          <a:bodyPr wrap="square" lIns="152400" tIns="0" rIns="15240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INCIDENTE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4"/>
                </a:solidFill>
              </a:rPr>
              <a:t>Chega para o run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35224" y="3406140"/>
            <a:ext cx="34747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78824" y="3406140"/>
            <a:ext cx="3749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Corte"/>
          <p:cNvSpPr/>
          <p:nvPr/>
        </p:nvSpPr>
        <p:spPr>
          <a:xfrm>
            <a:off x="5998464" y="2606040"/>
            <a:ext cx="164592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4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DO CLIENTE: É AQUI QUE A GENTE ATUA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224528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 DO CLIENTE: O QUE QUEREMOS EVITAR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9320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010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766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chemeClr val="bg1"/>
                </a:solidFill>
              </a:rPr>
              <a:t>Que os próximos meses sejam como </a:t>
            </a:r>
            <a:pPr indent="0" marL="0">
              <a:buNone/>
            </a:pPr>
            <a:r>
              <a:rPr lang="en-US" sz="3000" b="1" spc="-50" kern="0" dirty="0">
                <a:solidFill>
                  <a:schemeClr val="accent1"/>
                </a:solidFill>
              </a:rPr>
              <a:t>outubro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anja Run">
  <a:themeElements>
    <a:clrScheme name="Laranja Run">
      <a:dk1>
        <a:srgbClr val="141414"/>
      </a:dk1>
      <a:lt1>
        <a:srgbClr val="FFFFFF"/>
      </a:lt1>
      <a:dk2>
        <a:srgbClr val="3D3D3D"/>
      </a:dk2>
      <a:lt2>
        <a:srgbClr val="F2F2F2"/>
      </a:lt2>
      <a:accent1>
        <a:srgbClr val="EC7000"/>
      </a:accent1>
      <a:accent2>
        <a:srgbClr val="B35500"/>
      </a:accent2>
      <a:accent3>
        <a:srgbClr val="FFE1C2"/>
      </a:accent3>
      <a:accent4>
        <a:srgbClr val="8A8A8A"/>
      </a:accent4>
      <a:accent5>
        <a:srgbClr val="D6D6D6"/>
      </a:accent5>
      <a:accent6>
        <a:srgbClr val="5C5C5C"/>
      </a:accent6>
      <a:hlink>
        <a:srgbClr val="EC7000"/>
      </a:hlink>
      <a:folHlink>
        <a:srgbClr val="B35500"/>
      </a:folHlink>
    </a:clrScheme>
    <a:fontScheme name="Laranja Ru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de entregas · Outubro 2026</dc:title>
  <dc:subject>Deezer, calculadora, run, Globoplay e DLQs</dc:subject>
  <dc:creator>PptxGenJS</dc:creator>
  <cp:lastModifiedBy>PptxGenJS</cp:lastModifiedBy>
  <cp:revision>1</cp:revision>
  <dcterms:created xsi:type="dcterms:W3CDTF">2026-10-25T23:29:21Z</dcterms:created>
  <dcterms:modified xsi:type="dcterms:W3CDTF">2026-10-25T23:29:21Z</dcterms:modified>
</cp:coreProperties>
</file>